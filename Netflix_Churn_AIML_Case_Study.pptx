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Weight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CB3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CB3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CB37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CB37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CB37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Tenure (months)</c:v>
                  </c:pt>
                  <c:pt idx="1">
                    <c:v>Weekly watch hrs</c:v>
                  </c:pt>
                  <c:pt idx="2">
                    <c:v>Payment failures</c:v>
                  </c:pt>
                  <c:pt idx="3">
                    <c:v>Support tickets</c:v>
                  </c:pt>
                  <c:pt idx="4">
                    <c:v>Premium plan</c:v>
                  </c:pt>
                  <c:pt idx="5">
                    <c:v>Logins/month</c:v>
                  </c:pt>
                  <c:pt idx="6">
                    <c:v>Standard plan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-2.55</c:v>
                </c:pt>
                <c:pt idx="1">
                  <c:v>-1.82</c:v>
                </c:pt>
                <c:pt idx="2">
                  <c:v>1.34</c:v>
                </c:pt>
                <c:pt idx="3">
                  <c:v>0.81</c:v>
                </c:pt>
                <c:pt idx="4">
                  <c:v>-0.57</c:v>
                </c:pt>
                <c:pt idx="5">
                  <c:v>-0.41</c:v>
                </c:pt>
                <c:pt idx="6">
                  <c:v>-0.4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502920" cy="68580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9829800" y="0"/>
            <a:ext cx="502920" cy="6858000"/>
          </a:xfrm>
          <a:prstGeom prst="rect">
            <a:avLst/>
          </a:prstGeom>
          <a:solidFill>
            <a:srgbClr val="B0061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0"/>
            <a:ext cx="502920" cy="6858000"/>
          </a:xfrm>
          <a:prstGeom prst="rect">
            <a:avLst/>
          </a:prstGeom>
          <a:solidFill>
            <a:srgbClr val="7A0007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BUSINESS CASE STUDY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Predicting Subscriber Churn at Netflix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58368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 to identify at-risk subscribers before they cancel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4709160"/>
            <a:ext cx="2743200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Business Problem, Data, Solution, Impact &amp; Recommendations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AI/ML Coursework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Company &amp; Industry 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583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6126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Netflix does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is a global streaming entertainment company delivering movies, TV series, documentaries, and original content to subscribers over the internet, on demand, across TVs, mobiles, tablets, and computers.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its customers are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and household subscribers across 190+ countries, spanning multiple age groups, income levels, and content preferences, who pay a recurring monthly/annual subscription fee.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streaming plans (Basic, Standard, Premium), an ad-supported plan, downloadable offline content, personalized recommendations, and increasingly, games and live content — all bundled into a single monthly subscription.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90195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300M+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326880" y="1901952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subscriber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 worldwide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60920" y="329184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34107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326880" y="3410712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service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60920" y="480060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49194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Subscription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0" y="4919472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Problem: Subscriber Churn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a paying subscriber cancels their Netflix membership. Every cancellation is lost recurring revenue and a signal that something in the experience failed.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revenue depends entirely on retention — churn directly reduces Monthly Recurring Revenue.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9856" y="251460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48456" y="27889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3" name="Text 11"/>
          <p:cNvSpPr/>
          <p:nvPr/>
        </p:nvSpPr>
        <p:spPr>
          <a:xfrm>
            <a:off x="3648456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8456" y="34747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to replace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48456" y="397764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subscriber (marketing, promotions) costs far more than retaining an existing 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91072" y="251460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9672" y="27889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19672" y="34747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matters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9672" y="397764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churn signals build up over weeks — engagement drop, payment failures — before the actual cancellation.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62288" y="251460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90888" y="27889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3" name="Text 21"/>
          <p:cNvSpPr/>
          <p:nvPr/>
        </p:nvSpPr>
        <p:spPr>
          <a:xfrm>
            <a:off x="939088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90888" y="34747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90888" y="397764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Disney+, Amazon Prime Video, and others make switching easy, so proactive retention is a competitive necessity.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Required to Predict Churn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churn model learns from subscriber behavior recorded over time. This case study uses the following feature set: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31720"/>
            <a:ext cx="82296" cy="7498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3865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(months)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791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subscriber has held their account — newer accounts churn more.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23317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331720"/>
            <a:ext cx="82296" cy="7498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3865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watch hours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9672" y="26791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hours streamed per week — a direct measure of engagement.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46120"/>
            <a:ext cx="82296" cy="7498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3009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 per month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3593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subscriber opens the app — a proxy for habit strength.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32461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246120"/>
            <a:ext cx="82296" cy="7498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33009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(90 days)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9672" y="3593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support/help requests — frequent issues signal frustration.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160520"/>
            <a:ext cx="82296" cy="7498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2153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failures (90 days)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4507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billing attempts — a strong, immediate churn trigger.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41605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4160520"/>
            <a:ext cx="82296" cy="7498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8" name="Text 26"/>
          <p:cNvSpPr/>
          <p:nvPr/>
        </p:nvSpPr>
        <p:spPr>
          <a:xfrm>
            <a:off x="6519672" y="42153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tier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9672" y="4507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Basic, Standard, or Premium — pricing sensitivity differs by tier.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real-world sources: billing/CRM system, streaming logs, customer-support platform, and subscription-management records.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AI/ML Solution: Classification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1F1F1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classification algorithm that predicts the probability a subscriber will churn (Yes/No), based on labeled historical outcomes.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456432"/>
            <a:ext cx="146304" cy="14630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31927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outcome: subscriber churns or stays — a natural fit for classification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050792"/>
            <a:ext cx="146304" cy="14630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9136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gets one clear weight — easy to explain to non-technical stakeholders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645152"/>
            <a:ext cx="146304" cy="14630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5079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probability score, so the business can rank subscribers by risk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5239512"/>
            <a:ext cx="146304" cy="14630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10235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and deploy at Netflix's subscriber scale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 in ML technique choice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2468880"/>
            <a:ext cx="4709160" cy="502920"/>
          </a:xfrm>
          <a:prstGeom prst="roundRect">
            <a:avLst>
              <a:gd name="adj" fmla="val 10909"/>
            </a:avLst>
          </a:prstGeom>
          <a:solidFill>
            <a:srgbClr val="E50914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468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 →  Logistic Regression  ✓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3127248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1272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supervised options: Random Forest, XGBoost, SVM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374904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749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alt. use: K-Means clustering for segmentation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jump straight to a more complex model?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chosen first for transparency and explainability — the exact formula behind every prediction can be shown to management, satisfying Responsible-AI expectations before scaling to more complex models.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Solution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5400000">
            <a:off x="2542032" y="2089404"/>
            <a:ext cx="182880" cy="164592"/>
          </a:xfrm>
          <a:prstGeom prst="triangle">
            <a:avLst/>
          </a:pr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2770632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E50914"/>
          </a:solidFill>
          <a:ln/>
        </p:spPr>
      </p:sp>
      <p:sp>
        <p:nvSpPr>
          <p:cNvPr id="9" name="Text 7"/>
          <p:cNvSpPr/>
          <p:nvPr/>
        </p:nvSpPr>
        <p:spPr>
          <a:xfrm>
            <a:off x="2770632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System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4764024" y="2089404"/>
            <a:ext cx="182880" cy="164592"/>
          </a:xfrm>
          <a:prstGeom prst="triangle">
            <a:avLst/>
          </a:prstGeom>
          <a:solidFill>
            <a:srgbClr val="8C8C8C"/>
          </a:solidFill>
          <a:ln/>
        </p:spPr>
      </p:sp>
      <p:sp>
        <p:nvSpPr>
          <p:cNvPr id="11" name="Shape 9"/>
          <p:cNvSpPr/>
          <p:nvPr/>
        </p:nvSpPr>
        <p:spPr>
          <a:xfrm>
            <a:off x="4992624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41414"/>
          </a:solidFill>
          <a:ln/>
        </p:spPr>
      </p:sp>
      <p:sp>
        <p:nvSpPr>
          <p:cNvPr id="12" name="Text 10"/>
          <p:cNvSpPr/>
          <p:nvPr/>
        </p:nvSpPr>
        <p:spPr>
          <a:xfrm>
            <a:off x="4992624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5400000">
            <a:off x="6986016" y="2089404"/>
            <a:ext cx="182880" cy="164592"/>
          </a:xfrm>
          <a:prstGeom prst="triangle">
            <a:avLst/>
          </a:pr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7214616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7214616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rot="5400000">
            <a:off x="9208008" y="2089404"/>
            <a:ext cx="182880" cy="164592"/>
          </a:xfrm>
          <a:prstGeom prst="triangle">
            <a:avLst/>
          </a:prstGeom>
          <a:solidFill>
            <a:srgbClr val="8C8C8C"/>
          </a:solidFill>
          <a:ln/>
        </p:spPr>
      </p:sp>
      <p:sp>
        <p:nvSpPr>
          <p:cNvPr id="17" name="Shape 15"/>
          <p:cNvSpPr/>
          <p:nvPr/>
        </p:nvSpPr>
        <p:spPr>
          <a:xfrm>
            <a:off x="9436608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41414"/>
          </a:solidFill>
          <a:ln/>
        </p:spPr>
      </p:sp>
      <p:sp>
        <p:nvSpPr>
          <p:cNvPr id="18" name="Text 16"/>
          <p:cNvSpPr/>
          <p:nvPr/>
        </p:nvSpPr>
        <p:spPr>
          <a:xfrm>
            <a:off x="9436608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ML Pipeline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09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04288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41448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0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97096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34256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09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07408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89904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27064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09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0216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82712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19872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091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3024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93024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75520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012680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09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85832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085832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41414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month, Netflix's subscriber data (tenure, watch hours, logins, support tickets, payment history, plan tier) is fed into the trained Logistic Regression model. The model outputs a churn probability for every active subscriber. Subscribers above a risk threshold are automatically flagged and routed to the retention team — for a personalized offer, a proactive support call, or a free upgrade month — before they cancel.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SNAPSHOT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Results (Demonstration Run)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3,000 synthetic subscriber records built to mirror the feature set above (80/20 train-test split).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89.7%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1568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14.5%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01568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churn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0.69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54496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(churn class)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07424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07424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0.53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07424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(churn class)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churn risk (model coefficients)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3977640"/>
          <a:ext cx="68580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7635240" y="393192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141414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weights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reduces churn risk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F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increases churn risk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tenure and higher weekly watch hours are the strongest retention signals. Payment failures and support tickets are the strongest churn triggers — ideal targets for early intervention.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65960"/>
            <a:ext cx="365760" cy="36576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40487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customer retention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7157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at-risk subscribers weeks before cancellation, enabling timely, targeted offers.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F1F1F"/>
          </a:solidFill>
          <a:ln/>
        </p:spPr>
      </p:sp>
      <p:sp>
        <p:nvSpPr>
          <p:cNvPr id="11" name="Shape 9"/>
          <p:cNvSpPr/>
          <p:nvPr/>
        </p:nvSpPr>
        <p:spPr>
          <a:xfrm>
            <a:off x="4535424" y="1965960"/>
            <a:ext cx="365760" cy="36576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5424" y="240487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revenue loss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5424" y="27157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small drop in monthly churn compounds into significant retained subscription revenue.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1783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F1F1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1965960"/>
            <a:ext cx="365760" cy="36576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40487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services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7157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offers (discounts, upgrades, content nudges) are tailored to each subscriber's risk drivers.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93008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F1F1F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3675888"/>
            <a:ext cx="365760" cy="36576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41148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decision-making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442569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and support teams get a ranked, prioritized risk list instead of reacting after cancellation.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34256" y="3493008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F1F1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35424" y="3675888"/>
            <a:ext cx="365760" cy="36576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7" name="Text 25"/>
          <p:cNvSpPr/>
          <p:nvPr/>
        </p:nvSpPr>
        <p:spPr>
          <a:xfrm>
            <a:off x="4535424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35424" y="41148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forecasting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35424" y="442569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churn probabilities feed more accurate subscriber-growth and revenue forecasts.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9872" y="3493008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F1F1F"/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3675888"/>
            <a:ext cx="365760" cy="36576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41148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outreach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442569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High-volume, low-risk cases can trigger automated emails/offers, freeing agents for complex cases.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Challenges, Risks &amp; Responsible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82296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9280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security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24028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history and payment data are sensitive; must be stored and processed under strict access controls.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82296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89280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19672" y="224028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must be checked so it doesn't unfairly penalize subscribers by region, plan tier, or demographic group.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0400"/>
            <a:ext cx="82296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31012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4672" y="36576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support teams need to understand why a subscriber was flagged, not just the score.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2004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200400"/>
            <a:ext cx="82296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331012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predictions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19672" y="36576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waste retention budget; false negatives mean preventable churn goes unnoticed.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617720"/>
            <a:ext cx="82296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7274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automation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507492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actions should keep a human-in-the-loop for high-value or sensitive accounts.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461772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4617720"/>
            <a:ext cx="82296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7274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19672" y="507492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behavior shifts over time (new competitors, pricing changes) — the model needs regular retraining.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Recommendation to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1F1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phased churn-prediction rollout, starting with a transparent, explainable model before scaling complexity.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06324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E5091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337560"/>
            <a:ext cx="2670048" cy="228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230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Logistic Regression on a subset of subscribers; validate predictions against real cancellations.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19856" y="306324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419856" y="306324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E50914"/>
          </a:solidFill>
          <a:ln/>
        </p:spPr>
      </p:sp>
      <p:sp>
        <p:nvSpPr>
          <p:cNvPr id="15" name="Shape 13"/>
          <p:cNvSpPr/>
          <p:nvPr/>
        </p:nvSpPr>
        <p:spPr>
          <a:xfrm>
            <a:off x="3419856" y="3337560"/>
            <a:ext cx="2670048" cy="228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3557016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19856" y="306324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02736" y="3749040"/>
            <a:ext cx="230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monthly risk scores into the retention team's CRM workflow with clear, explainable reasons.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1072" y="306324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291072" y="306324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E50914"/>
          </a:solidFill>
          <a:ln/>
        </p:spPr>
      </p:sp>
      <p:sp>
        <p:nvSpPr>
          <p:cNvPr id="21" name="Shape 19"/>
          <p:cNvSpPr/>
          <p:nvPr/>
        </p:nvSpPr>
        <p:spPr>
          <a:xfrm>
            <a:off x="6291072" y="3337560"/>
            <a:ext cx="2670048" cy="228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91072" y="306324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73952" y="3749040"/>
            <a:ext cx="230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retention offers (discount, upgrade, support call) to each subscriber's specific risk driver.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62288" y="306324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162288" y="306324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E50914"/>
          </a:solidFill>
          <a:ln/>
        </p:spPr>
      </p:sp>
      <p:sp>
        <p:nvSpPr>
          <p:cNvPr id="27" name="Shape 25"/>
          <p:cNvSpPr/>
          <p:nvPr/>
        </p:nvSpPr>
        <p:spPr>
          <a:xfrm>
            <a:off x="9162288" y="3337560"/>
            <a:ext cx="2670048" cy="228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8" name="Text 26"/>
          <p:cNvSpPr/>
          <p:nvPr/>
        </p:nvSpPr>
        <p:spPr>
          <a:xfrm>
            <a:off x="9299448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62288" y="306324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Govern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45168" y="3749040"/>
            <a:ext cx="230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the full base with bias audits, human review for edge cases, and scheduled model retraining.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502920" cy="68580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9829800" y="0"/>
            <a:ext cx="502920" cy="6858000"/>
          </a:xfrm>
          <a:prstGeom prst="rect">
            <a:avLst/>
          </a:prstGeom>
          <a:solidFill>
            <a:srgbClr val="B0061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0"/>
            <a:ext cx="502920" cy="6858000"/>
          </a:xfrm>
          <a:prstGeom prst="rect">
            <a:avLst/>
          </a:prstGeom>
          <a:solidFill>
            <a:srgbClr val="7A0007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92024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simple, explainable model can meaningfully reduce Netflix's subscriber churn — if paired with fast retention action and responsible oversight.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8368" y="4206240"/>
            <a:ext cx="2743200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434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2026-09-15T14:37:08Z</dcterms:created>
  <dcterms:modified xsi:type="dcterms:W3CDTF">2026-09-15T14:37:08Z</dcterms:modified>
</cp:coreProperties>
</file>